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Netgear%20Projects\NRH%20testing\WBE700v2\NRH%20Test%20Report\Beta%20Test\NRH_RvR_WBE700v2%205G%20CH44%20BW80_Intel%20BE200_20260123.xlsm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strRef>
          <c:f>DB!$G$14</c:f>
          <c:strCache>
            <c:ptCount val="1"/>
            <c:pt idx="0">
              <c:v>5GHz CH44 80MHz-Throughput vs Range (RvR)- UL + DL</c:v>
            </c:pt>
          </c:strCache>
        </c:strRef>
      </c:tx>
      <c:overlay val="0"/>
      <c:txPr>
        <a:bodyPr/>
        <a:lstStyle/>
        <a:p>
          <a:pPr>
            <a:defRPr sz="1600"/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DB!$G$7</c:f>
              <c:strCache>
                <c:ptCount val="1"/>
                <c:pt idx="0">
                  <c:v>WBE700v2(Beta), QCOM FW + Intel BE200</c:v>
                </c:pt>
              </c:strCache>
              <c:extLst xmlns:c15="http://schemas.microsoft.com/office/drawing/2012/chart"/>
            </c:strRef>
          </c:tx>
          <c:spPr>
            <a:solidFill>
              <a:srgbClr val="00B0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DB!$M$7:$M$14</c:f>
              <c:strCache>
                <c:ptCount val="8"/>
                <c:pt idx="0">
                  <c:v>Location #1 (10ft)  Garage          LOS PATH LOSS  (55.0) dB</c:v>
                </c:pt>
                <c:pt idx="1">
                  <c:v>Location #2 (20ft)  2nd Floor      NLOS PATH LOSS  (68.0) dB</c:v>
                </c:pt>
                <c:pt idx="2">
                  <c:v>Location #3 (55ft)  Living Room    NLOS PATH LOSS  (76.0) dB</c:v>
                </c:pt>
                <c:pt idx="3">
                  <c:v>Location #4 (70ft)  Soldering Room NLOS PATH LOSS  (82.0) dB</c:v>
                </c:pt>
                <c:pt idx="4">
                  <c:v>Location #5 (60ft)  Backyard       NLOS PATH LOSS  (86.0) dB</c:v>
                </c:pt>
                <c:pt idx="5">
                  <c:v>Location #6 (80ft)  Master Bedroom NLOS PATH LOSS  (96.0) dB</c:v>
                </c:pt>
                <c:pt idx="6">
                  <c:v>Location #7 (75ft)  Bedroom 2      NLOS PATH LOSS  (97.0) dB</c:v>
                </c:pt>
                <c:pt idx="7">
                  <c:v>Location #8 (110ft) Front Yard     NLOS PATH LOSS  (101.0) dB</c:v>
                </c:pt>
              </c:strCache>
            </c:strRef>
          </c:cat>
          <c:val>
            <c:numRef>
              <c:f>'DUT Data'!$B$41:$B$48</c:f>
              <c:numCache>
                <c:formatCode>0</c:formatCode>
                <c:ptCount val="8"/>
                <c:pt idx="0">
                  <c:v>918.5</c:v>
                </c:pt>
                <c:pt idx="1">
                  <c:v>621.9</c:v>
                </c:pt>
                <c:pt idx="2">
                  <c:v>358</c:v>
                </c:pt>
                <c:pt idx="3">
                  <c:v>148.1</c:v>
                </c:pt>
                <c:pt idx="4">
                  <c:v>112.4</c:v>
                </c:pt>
                <c:pt idx="5">
                  <c:v>56.3</c:v>
                </c:pt>
                <c:pt idx="6">
                  <c:v>19.3</c:v>
                </c:pt>
                <c:pt idx="7">
                  <c:v>12.3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1B30-462A-B457-7B91F59DE3B0}"/>
            </c:ext>
          </c:extLst>
        </c:ser>
        <c:ser>
          <c:idx val="2"/>
          <c:order val="5"/>
          <c:tx>
            <c:strRef>
              <c:f>COMPARISON!$B$4</c:f>
              <c:strCache>
                <c:ptCount val="1"/>
                <c:pt idx="0">
                  <c:v>WAX610, V11.8.0.10 + Intel BE200</c:v>
                </c:pt>
              </c:strCache>
              <c:extLst xmlns:c15="http://schemas.microsoft.com/office/drawing/2012/chart"/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COMPARISON!$C$5:$C$12</c:f>
              <c:numCache>
                <c:formatCode>0</c:formatCode>
                <c:ptCount val="8"/>
                <c:pt idx="0">
                  <c:v>893.2</c:v>
                </c:pt>
                <c:pt idx="1">
                  <c:v>585.29999999999995</c:v>
                </c:pt>
                <c:pt idx="2">
                  <c:v>326.10000000000002</c:v>
                </c:pt>
                <c:pt idx="3">
                  <c:v>126.5</c:v>
                </c:pt>
                <c:pt idx="4">
                  <c:v>88.5</c:v>
                </c:pt>
                <c:pt idx="5">
                  <c:v>45.5</c:v>
                </c:pt>
                <c:pt idx="6">
                  <c:v>15.5</c:v>
                </c:pt>
                <c:pt idx="7">
                  <c:v>11.3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1B30-462A-B457-7B91F59DE3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42178304"/>
        <c:axId val="-841768608"/>
        <c:extLst>
          <c:ext xmlns:c15="http://schemas.microsoft.com/office/drawing/2012/chart" uri="{02D57815-91ED-43cb-92C2-25804820EDAC}">
            <c15:filteredBarSeries>
              <c15:ser>
                <c:idx val="4"/>
                <c:order val="1"/>
                <c:tx>
                  <c:strRef>
                    <c:extLst>
                      <c:ext uri="{02D57815-91ED-43cb-92C2-25804820EDAC}">
                        <c15:formulaRef>
                          <c15:sqref>COMPARISON!$B$34</c15:sqref>
                        </c15:formulaRef>
                      </c:ext>
                    </c:extLst>
                    <c:strCache>
                      <c:ptCount val="1"/>
                      <c:pt idx="0">
                        <c:v>WBE700v2(PPR Update),QCOM FW + Intel BE200</c:v>
                      </c:pt>
                    </c:strCache>
                  </c:strRef>
                </c:tx>
                <c:spPr>
                  <a:solidFill>
                    <a:srgbClr val="F79646"/>
                  </a:solidFill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COMPARISON!$C$35:$C$42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1595.4</c:v>
                      </c:pt>
                      <c:pt idx="1">
                        <c:v>983.9</c:v>
                      </c:pt>
                      <c:pt idx="2">
                        <c:v>536.70000000000005</c:v>
                      </c:pt>
                      <c:pt idx="3">
                        <c:v>163.9</c:v>
                      </c:pt>
                      <c:pt idx="4">
                        <c:v>121.4</c:v>
                      </c:pt>
                      <c:pt idx="5">
                        <c:v>41.9</c:v>
                      </c:pt>
                      <c:pt idx="6">
                        <c:v>17.100000000000001</c:v>
                      </c:pt>
                      <c:pt idx="7">
                        <c:v>10.199999999999999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B30-462A-B457-7B91F59DE3B0}"/>
                  </c:ext>
                </c:extLst>
              </c15:ser>
            </c15:filteredBarSeries>
            <c15:filteredBarSeries>
              <c15:ser>
                <c:idx val="1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COMPARISON!$B$14</c15:sqref>
                        </c15:formulaRef>
                      </c:ext>
                    </c:extLst>
                    <c:strCache>
                      <c:ptCount val="1"/>
                      <c:pt idx="0">
                        <c:v>WBE700v2(PPR Update),QCOM FW + Intel BE200</c:v>
                      </c:pt>
                    </c:strCache>
                  </c:strRef>
                </c:tx>
                <c:spPr>
                  <a:solidFill>
                    <a:srgbClr val="0070C0"/>
                  </a:solidFill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COMPARISON!$C$15:$C$22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945.6</c:v>
                      </c:pt>
                      <c:pt idx="1">
                        <c:v>583.5</c:v>
                      </c:pt>
                      <c:pt idx="2">
                        <c:v>347.4</c:v>
                      </c:pt>
                      <c:pt idx="3">
                        <c:v>131.80000000000001</c:v>
                      </c:pt>
                      <c:pt idx="4">
                        <c:v>99.8</c:v>
                      </c:pt>
                      <c:pt idx="5">
                        <c:v>47.9</c:v>
                      </c:pt>
                      <c:pt idx="6">
                        <c:v>15.9</c:v>
                      </c:pt>
                      <c:pt idx="7">
                        <c:v>10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B30-462A-B457-7B91F59DE3B0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COMPARISON!$B$24</c15:sqref>
                        </c15:formulaRef>
                      </c:ext>
                    </c:extLst>
                    <c:strCache>
                      <c:ptCount val="1"/>
                      <c:pt idx="0">
                        <c:v>WBE700v2(PPR Update)_BW80,QCOM FW + Intel BE200</c:v>
                      </c:pt>
                    </c:strCache>
                  </c:strRef>
                </c:tx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COMPARISON!$C$25:$C$32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945.6</c:v>
                      </c:pt>
                      <c:pt idx="1">
                        <c:v>583.5</c:v>
                      </c:pt>
                      <c:pt idx="2">
                        <c:v>347.4</c:v>
                      </c:pt>
                      <c:pt idx="3">
                        <c:v>131.80000000000001</c:v>
                      </c:pt>
                      <c:pt idx="4">
                        <c:v>99.8</c:v>
                      </c:pt>
                      <c:pt idx="5">
                        <c:v>47.9</c:v>
                      </c:pt>
                      <c:pt idx="6">
                        <c:v>15.9</c:v>
                      </c:pt>
                      <c:pt idx="7">
                        <c:v>10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B30-462A-B457-7B91F59DE3B0}"/>
                  </c:ext>
                </c:extLst>
              </c15:ser>
            </c15:filteredBarSeries>
            <c15:filteredBar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COMPARISON!$B$44</c15:sqref>
                        </c15:formulaRef>
                      </c:ext>
                    </c:extLst>
                    <c:strCache>
                      <c:ptCount val="1"/>
                      <c:pt idx="0">
                        <c:v>RS600_Option6 ANT,V1.0.0.26 + Intel BE200</c:v>
                      </c:pt>
                    </c:strCache>
                  </c:strRef>
                </c:tx>
                <c:spPr>
                  <a:solidFill>
                    <a:srgbClr val="4BACC6"/>
                  </a:solidFill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</c:ext>
                  </c:extLst>
                </c:dLbls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COMPARISON!$C$45:$C$52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2100.5</c:v>
                      </c:pt>
                      <c:pt idx="1">
                        <c:v>1318</c:v>
                      </c:pt>
                      <c:pt idx="2">
                        <c:v>1036.0999999999999</c:v>
                      </c:pt>
                      <c:pt idx="3">
                        <c:v>210.3</c:v>
                      </c:pt>
                      <c:pt idx="4">
                        <c:v>205.6</c:v>
                      </c:pt>
                      <c:pt idx="5">
                        <c:v>41.8</c:v>
                      </c:pt>
                      <c:pt idx="6">
                        <c:v>34.9</c:v>
                      </c:pt>
                      <c:pt idx="7">
                        <c:v>15.8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B30-462A-B457-7B91F59DE3B0}"/>
                  </c:ext>
                </c:extLst>
              </c15:ser>
            </c15:filteredBarSeries>
          </c:ext>
        </c:extLst>
      </c:barChart>
      <c:catAx>
        <c:axId val="-84217830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Stations</a:t>
                </a:r>
              </a:p>
            </c:rich>
          </c:tx>
          <c:layout>
            <c:manualLayout>
              <c:xMode val="edge"/>
              <c:yMode val="edge"/>
              <c:x val="0.50093386058577283"/>
              <c:y val="0.95457298606904906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crossAx val="-841768608"/>
        <c:crosses val="autoZero"/>
        <c:auto val="1"/>
        <c:lblAlgn val="ctr"/>
        <c:lblOffset val="100"/>
        <c:tickMarkSkip val="8"/>
        <c:noMultiLvlLbl val="0"/>
      </c:catAx>
      <c:valAx>
        <c:axId val="-841768608"/>
        <c:scaling>
          <c:orientation val="minMax"/>
        </c:scaling>
        <c:delete val="0"/>
        <c:axPos val="l"/>
        <c:majorGridlines/>
        <c:title>
          <c:tx>
            <c:strRef>
              <c:f>'DUT Data'!$C$38</c:f>
              <c:strCache>
                <c:ptCount val="1"/>
                <c:pt idx="0">
                  <c:v>Bi-Directional Throughput (Mbps)</c:v>
                </c:pt>
              </c:strCache>
            </c:strRef>
          </c:tx>
          <c:overlay val="0"/>
          <c:txPr>
            <a:bodyPr rot="-5400000" vert="horz"/>
            <a:lstStyle/>
            <a:p>
              <a:pPr>
                <a:defRPr/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crossAx val="-842178304"/>
        <c:crosses val="autoZero"/>
        <c:crossBetween val="between"/>
        <c:majorUnit val="200"/>
      </c:valAx>
    </c:plotArea>
    <c:legend>
      <c:legendPos val="tr"/>
      <c:layout>
        <c:manualLayout>
          <c:xMode val="edge"/>
          <c:yMode val="edge"/>
          <c:x val="0.70216880784638747"/>
          <c:y val="8.0774716457346296E-2"/>
          <c:w val="0.28444144186118742"/>
          <c:h val="0.1509130575435812"/>
        </c:manualLayout>
      </c:layout>
      <c:overlay val="1"/>
      <c:spPr>
        <a:solidFill>
          <a:srgbClr val="FFFF00"/>
        </a:solidFill>
      </c:spPr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C429-8735-B5A6-13B1-7DE1D9969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A52EC-A027-6F7F-C312-27D8A9DAA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245E-A76B-5F21-1F06-27407086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FB2F1-4554-763F-4C35-DB83BF97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D0743-1C11-A357-1BBD-D131E067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4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7B4B-0611-1B0B-D642-64F900D9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344F7-02D5-7C5B-0687-30D3D538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F01A0-4098-E1ED-926D-2451595B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B86CC-2F93-0D7E-665B-C0130D5F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35888-AAE5-882B-0582-87A1419B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F15F-D318-9880-B408-EBFDAEA9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52C08-CF11-4C96-3175-6B94D79C2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F4898-2F00-BF04-50A7-D56FCB70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7E786-F106-CBCC-A230-9DC3813F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92F2-B634-AFC5-2A22-56F7AC4D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7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8F1F-5B12-ADEA-8C36-83F5D133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917C5-7C0B-EB10-76DD-5B81E1C64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4A43B-40A4-DDA3-D0EB-44F30E573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76A0-86A5-B401-F427-598ABD71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37A21-A358-8B39-A23F-5140EBB1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6790D-8DAE-63F0-81EB-24641EA1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950E-CA70-D1A3-F5C3-72BA5667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76A1-4F91-1A8F-57B5-764941A9C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2EC0E-013C-9784-AC73-D25B9D4EC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3B116-E021-E595-39D1-50043314C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DD9BB-7706-5904-663A-D604F556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BE4FE-92C3-41E0-8C78-4602780E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A412D-B495-2586-7AD6-97D3F945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555EE-8BEC-840A-348F-2B4ED7FD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F5B6-E700-1307-813D-4D49B4D4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F742-8754-2EE2-990B-531866B0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A3563-FC65-9C1E-7950-BAF57730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3B6AA-8716-FBFD-55F7-EC1223D7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4C9F-1CB6-0616-8DA8-4056FA13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8AE80-F54E-53BD-A67C-20047803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70F6-4B10-25CF-2A82-36E0939F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0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8A66-41E7-6484-A281-F55253D7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53F8-FCC3-313B-F39E-E58C2997E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FC183-42C1-AB4E-3E39-1B20C0AF3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ECB31-B107-7F6C-FDF6-BB6A3CB6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073C6-AA49-AD8A-4370-7408619F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74F57-C9B1-37A6-0D96-07DE62C4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7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A935-E387-D7C9-432B-8EA050A3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6C229D-654E-E616-4DCC-668A13A3B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4CF59-E653-E1A9-6289-F22CB80E2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E51F1-045D-8DE8-21FF-73FA78FA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9E77F-FCA6-C42E-44A0-E1EEB0B3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7502B-0EF1-D20E-AD13-2967172D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9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3A44-4675-52D7-AA69-793A5047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0694A-F5FD-EF78-6CE7-F594E40EE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D0ED1-8F55-4ADA-C3C5-816D8130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93DE5-F51F-8173-FACC-F127682A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6EC66-DB67-E4D6-F55F-6198F6F1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3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B76DB-5F37-4C61-CFAC-7E1CAA39A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E1993-CB11-2E1E-C687-A865F5766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2D82-AD2B-1CEE-71C8-3024639E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27E77-0647-61AC-9E14-502B94A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C42D4-62B0-5C9F-F171-613FBF21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7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3F200-240F-2BCA-63D3-ECAA9C71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E7A5D-08BE-0684-F9DD-AB678B6EE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51F70-809F-32B3-0614-B0713C567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5395D-AC42-4DDA-9559-D8E0C4558B5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2EE30-3048-4618-1B7B-F00543C02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8C3E2-7ACA-3519-4FBD-BCCDD04D7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295FC-1C9E-4ADC-A87B-22EAC0F01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0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733911"/>
              </p:ext>
            </p:extLst>
          </p:nvPr>
        </p:nvGraphicFramePr>
        <p:xfrm>
          <a:off x="635000" y="1270000"/>
          <a:ext cx="762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161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Hung</dc:creator>
  <cp:lastModifiedBy>Alex Hung</cp:lastModifiedBy>
  <cp:revision>1</cp:revision>
  <dcterms:created xsi:type="dcterms:W3CDTF">2026-01-23T20:37:09Z</dcterms:created>
  <dcterms:modified xsi:type="dcterms:W3CDTF">2026-01-23T20:37:09Z</dcterms:modified>
</cp:coreProperties>
</file>